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69680" y="365760"/>
            <a:ext cx="2468880" cy="246888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875520" y="1371600"/>
            <a:ext cx="1554480" cy="1554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" y="5852160"/>
            <a:ext cx="3108960" cy="10972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8FAFC"/>
                </a:solidFill>
                <a:latin typeface="Aptos"/>
              </a:rPr>
              <a:t>AI-POWERED REAL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71CBFF"/>
                </a:solidFill>
                <a:latin typeface="Aptos"/>
              </a:rPr>
              <a:t>PROPERTY VALUATION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14600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DDAEB"/>
                </a:solidFill>
                <a:latin typeface="Aptos"/>
              </a:rPr>
              <a:t>Hybrid RAG • Multi-Agent Valuation • Explainable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828800" cy="310896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78124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Ames Housing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246120"/>
            <a:ext cx="1600200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3278124"/>
            <a:ext cx="1600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FastAPI + 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246120"/>
            <a:ext cx="1280160" cy="310896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278124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LangGraph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1E8F2"/>
                </a:solidFill>
                <a:latin typeface="Aptos"/>
              </a:rPr>
              <a:t>From natural-language property descriptions to evidence-grounded valuation, risk and explanations.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978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5B7CF"/>
                </a:solidFill>
                <a:latin typeface="Aptos"/>
              </a:rP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44200" y="589788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5B7C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Turning historical property records into actionable valuation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29000" cy="43891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" cy="43891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38528"/>
            <a:ext cx="30632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• Finding comparable historical properties manually is slow.
• Similar properties can have very different values.
• A valuation should explain which property features and location context matter.
• Professionals need a fast, evidence-grounded answer—not only a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54864" cy="43891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38528"/>
            <a:ext cx="30632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• Natural-language property input
• Hybrid semantic + lexical retrieval
• Comparable-property ranking with RRF
• ML price prediction + comparable evidence
• SHAP, risk, confidence and LLM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29000" cy="43891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54864" cy="43891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636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938528"/>
            <a:ext cx="30632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Build an executable valuation microservice that can:
→ Retrieve similar historical cases
→ Estimate property value
→ Explain the estimate
→ Identify risk and uncertainty
→ Learn ranking preferences from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Requirement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The implementation covers the Basic and Advanced requirements from the specification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4924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4864" cy="44805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BASIC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498347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BASIC
✓ Basic RAG
✓ Hybrid keyword + semantic search
✓ Property classification
✓ Metadata filtering
✓ Valuation recommendation
✓ Input validation / guardrails
✓ Comparable prioritization
✓ API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325880"/>
            <a:ext cx="54864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472184"/>
            <a:ext cx="49834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ADVANCED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1847088"/>
            <a:ext cx="4983479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ADVANCED
✓ DeepEval evaluation
✓ Property price prediction
✓ LLM-as-Judge
✓ Multi-agent collaboration
✓ Property value risk scoring
✓ Feature &amp; location impact
✓ Feedback loop
✓ Front-end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98932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Aptos"/>
              </a:rPr>
              <a:t>Specification-aligned core + additional engineering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End-to-end flow from dataset and user query to explainable 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874519" cy="64008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27048"/>
            <a:ext cx="1691639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React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1874519" cy="64008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532888"/>
            <a:ext cx="1691639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FastAPI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1874519" cy="64008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538728"/>
            <a:ext cx="1691639" cy="4571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Validation +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965960"/>
            <a:ext cx="2194560" cy="114300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075688"/>
            <a:ext cx="2011679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LangGraph
Multi-Agent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2423160" cy="141732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35607"/>
            <a:ext cx="2240279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Hybrid Retrieval
MiniLM + ChromaDB
BM25Okapi + RRF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154680"/>
            <a:ext cx="2423160" cy="100584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64408"/>
            <a:ext cx="2240279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Valuation Model
Random Forest + Comparables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25880"/>
            <a:ext cx="2240280" cy="100584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435607"/>
            <a:ext cx="2057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Explainability
SHAP + Location Context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240280" cy="91440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85292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Risk + Confidence
+ Valuation Range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4069080"/>
            <a:ext cx="2240280" cy="91440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4178808"/>
            <a:ext cx="2057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LLM-as-Judge
Claude / deterministic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892040"/>
            <a:ext cx="2423160" cy="685800"/>
          </a:xfrm>
          <a:prstGeom prst="roundRect">
            <a:avLst/>
          </a:prstGeom>
          <a:solidFill>
            <a:srgbClr val="192741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001768"/>
            <a:ext cx="2240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SQLite Feedback + History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77440" y="1737360"/>
            <a:ext cx="868680" cy="59436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44752" y="1828800"/>
            <a:ext cx="0" cy="59436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444752" y="3063240"/>
            <a:ext cx="0" cy="36576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377440" y="2743200"/>
            <a:ext cx="868680" cy="1005839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440680" y="2057400"/>
            <a:ext cx="640080" cy="484632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287768" y="2743200"/>
            <a:ext cx="0" cy="41148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1828800"/>
            <a:ext cx="731520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503920" y="3200400"/>
            <a:ext cx="731520" cy="45720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03920" y="4389120"/>
            <a:ext cx="731520" cy="13716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287768" y="4160520"/>
            <a:ext cx="0" cy="73152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Valuation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A coordinated pipeline with retrieval, prediction, explanation and resilience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962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Natural-language
property 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75688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5416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688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416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Classification +
feature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93008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39896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9624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Metadata filters
+ hybrid retrieval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57216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04104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962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13832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RRF-ranked
comparables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21424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068312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9688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ML prediction +
comparable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85632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32519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7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7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SHAP + risk +
confidence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149840" y="2743200"/>
            <a:ext cx="246888" cy="0"/>
          </a:xfrm>
          <a:prstGeom prst="line">
            <a:avLst/>
          </a:prstGeom>
          <a:ln w="25400">
            <a:solidFill>
              <a:srgbClr val="829B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396728" y="1828800"/>
            <a:ext cx="1417320" cy="1828800"/>
          </a:xfrm>
          <a:prstGeom prst="roundRect">
            <a:avLst/>
          </a:prstGeom>
          <a:solidFill>
            <a:srgbClr val="192741"/>
          </a:solidFill>
          <a:ln>
            <a:solidFill>
              <a:srgbClr val="296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06455" y="1993392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962FF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6455" y="2395728"/>
            <a:ext cx="1188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8FAFC"/>
                </a:solidFill>
                <a:latin typeface="Aptos"/>
              </a:rPr>
              <a:t>LLM judge +
final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" y="4251960"/>
            <a:ext cx="3063240" cy="11887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4251960"/>
            <a:ext cx="54864" cy="118872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4398264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RESILIENCE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477316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DAE8"/>
                </a:solidFill>
                <a:latin typeface="Aptos"/>
              </a:rPr>
              <a:t>Retrieval fallback + filter relaxation when evidence is insufficient.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251960"/>
            <a:ext cx="3063240" cy="11887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26280" y="425196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27448" y="4398264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VALUATION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477316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DAE8"/>
                </a:solidFill>
                <a:latin typeface="Aptos"/>
              </a:rPr>
              <a:t>If the trained model fails, comparable-sale median provides a transparent backup.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251960"/>
            <a:ext cx="3063240" cy="118872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4251960"/>
            <a:ext cx="54864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4398264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JUDGE FALLBACK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4773168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FDAE8"/>
                </a:solidFill>
                <a:latin typeface="Aptos"/>
              </a:rPr>
              <a:t>Primary LLM → fallback LLM → deterministic judge.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Hybrid RAG &amp; Comparable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Semantic understanding + exact keyword matching, fused with RRF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24612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44805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SEMANTIC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2880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Embedding model
all-MiniLM-L6-v2
→ local embeddings
→ normalized vectors
→ ChromaDB cosine index
→ captures conceptual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24612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325880"/>
            <a:ext cx="54864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7218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LEXICAL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47088"/>
            <a:ext cx="2880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BM25Okapi
→ tokenized property descriptions
→ exact / term-level matching
→ useful for neighborhoods, rooms and explicit attributes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25880"/>
            <a:ext cx="324612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325880"/>
            <a:ext cx="54864" cy="4480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1472184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FUSION +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1847088"/>
            <a:ext cx="2880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RRF combines ranked lists.
Then apply metadata constraints and comparable scoring.
Outputs include semantic score, BM25 score, similarity and retrieval mode.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9893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A623"/>
                </a:solidFill>
                <a:latin typeface="Aptos"/>
              </a:rPr>
              <a:t>Hybrid retrieval is one of the key engineering enhancements beyond a basic RAG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Valuation, Explainability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The system does not stop at a price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44805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PRICE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30175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Trained regression model
Uses property features and retrieved comparable evidence.
Primary path:
Model prediction + comparables
Fallback:
Comparable-sale median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25880"/>
            <a:ext cx="338328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325880"/>
            <a:ext cx="54864" cy="4480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WHY THIS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847088"/>
            <a:ext cx="30175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SHAP TreeExplainer
Identifies feature-level contribution and direction.
Location context adds observed neighborhood sale-price information.
Feature-importance fallback is available if SHAP cannot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325880"/>
            <a:ext cx="3383280" cy="448056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1325880"/>
            <a:ext cx="54864" cy="4480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HOW CONFIDENT?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1847088"/>
            <a:ext cx="30175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Confidence considers:
• Comparable similarity
• Input completeness
• Price dispersion
• Retrieval fallback
• Valuation fallback
Outputs valuation range + LOW / MEDIUM / HIGH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Multi-Agent Collaboration &amp; Quality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LangGraph coordinates specialized stages while the judge validates the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120640" cy="713232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4864" cy="7132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8074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Classification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55648"/>
            <a:ext cx="4754879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8"/>
                </a:solidFill>
                <a:latin typeface="Aptos"/>
              </a:rPr>
              <a:t>Extract structured property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5120640" cy="713232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148840"/>
            <a:ext cx="54864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29514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Retrieval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70048"/>
            <a:ext cx="4754879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8"/>
                </a:solidFill>
                <a:latin typeface="Aptos"/>
              </a:rPr>
              <a:t>Find and rank historical comparables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63240"/>
            <a:ext cx="5120640" cy="713232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063240"/>
            <a:ext cx="54864" cy="7132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20954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Valuation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584448"/>
            <a:ext cx="4754879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8"/>
                </a:solidFill>
                <a:latin typeface="Aptos"/>
              </a:rPr>
              <a:t>Generate model/evidence-based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5120640" cy="713232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977639"/>
            <a:ext cx="54864" cy="713232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12394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Risk &amp; Explainability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498848"/>
            <a:ext cx="4754879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8"/>
                </a:solidFill>
                <a:latin typeface="Aptos"/>
              </a:rPr>
              <a:t>Compute risk, confidence and impacts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92040"/>
            <a:ext cx="5120640" cy="713232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892040"/>
            <a:ext cx="54864" cy="7132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038344"/>
            <a:ext cx="47548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Decision / Insight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5413248"/>
            <a:ext cx="4754879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FDAE8"/>
                </a:solidFill>
                <a:latin typeface="Aptos"/>
              </a:rPr>
              <a:t>Assemble the final 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1234440"/>
            <a:ext cx="5440680" cy="192024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1234440"/>
            <a:ext cx="54864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138074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LLM-AS-JUDGE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1755648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AE8"/>
                </a:solidFill>
                <a:latin typeface="Aptos"/>
              </a:rPr>
              <a:t>Claude evaluates groundedness, relevance, completeness, evidence usage and reasoning quality.
The judge validates the explanation; it does not change the numerical valuation.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3429000"/>
            <a:ext cx="5440680" cy="192024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3429000"/>
            <a:ext cx="54864" cy="1920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3575304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QUALITY /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3950208"/>
            <a:ext cx="5074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FDAE8"/>
                </a:solidFill>
                <a:latin typeface="Aptos"/>
              </a:rPr>
              <a:t>DeepEval runner uses a real GEval recommendation-quality check.
Evaluation, judge results and feedback are persisted through the project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Application Layer &amp;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Executable microservice with API, dashboard, feedback and evaluation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443484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443484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47088"/>
            <a:ext cx="3017520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React + Vite dashboard
Displays:
• Estimated value
• Valuation range
• Confidence / risk
• Comparable properties
• Feature impacts
• Evidence / explanation
•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25880"/>
            <a:ext cx="3383280" cy="443484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325880"/>
            <a:ext cx="54864" cy="4434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847088"/>
            <a:ext cx="3017520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FDAE8"/>
                </a:solidFill>
                <a:latin typeface="Aptos"/>
              </a:rPr>
              <a:t>Core endpoints include:
POST /api/valuate
POST /api/search
POST /api/compare
POST /api/what-if
POST /api/feedback
POST /api/evaluate
Plus health / model / configuration endpoints.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4736" y="1325880"/>
            <a:ext cx="3383280" cy="443484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1325880"/>
            <a:ext cx="54864" cy="44348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1847088"/>
            <a:ext cx="3017520" cy="3794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SQLite stores:
• Query / valuation history
• Feedback
• Evaluation results
• Fallback events
Feedback contributes a ranking prior after sufficient votes.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BECDE1"/>
                </a:solidFill>
                <a:latin typeface="Aptos"/>
              </a:rPr>
              <a:t>A requirement-complete, explainable and resilient valuation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429768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4864" cy="429768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WHAT MAKES IT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47088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✓ Hybrid RAG with MiniLM + BM25 + RRF
✓ Real LangGraph multi-agent orchestration
✓ ML valuation backed by historical comparables
✓ SHAP-based explainability
✓ Risk + confidence + valuation 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325880"/>
            <a:ext cx="3383280" cy="429768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325880"/>
            <a:ext cx="54864" cy="4297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847088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✓ Retrieval fallback
✓ Filter relaxation
✓ Comparable-median valuation fallback
✓ LLM fallback + deterministic judge
✓ SQLite persistence + feedback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325880"/>
            <a:ext cx="3383280" cy="4297680"/>
          </a:xfrm>
          <a:prstGeom prst="roundRect">
            <a:avLst/>
          </a:prstGeom>
          <a:solidFill>
            <a:srgbClr val="192741"/>
          </a:solidFill>
          <a:ln>
            <a:solidFill>
              <a:srgbClr val="32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325880"/>
            <a:ext cx="54864" cy="4297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472184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DEMO 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847088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CFDAE8"/>
                </a:solidFill>
                <a:latin typeface="Aptos"/>
              </a:rPr>
              <a:t>1. Enter a natural-language property
2. Show top historical comparables
3. Show predicted value + range
4. Explain feature/location impact
5. Show risk, judge and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89788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ABED7"/>
                </a:solidFill>
                <a:latin typeface="Aptos"/>
              </a:rPr>
              <a:t>AI-Powered Real Estate Property Valuation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ABED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